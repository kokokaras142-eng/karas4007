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93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2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1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9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5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0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9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2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9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46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97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49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9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97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45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1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04377E-6614-4BDF-A4EE-B798970F4A3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29C684-1BB8-4D5D-BD5A-71E979C86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291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Physiological Anticlotting Mechanisms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Importance in Dental Procedures</a:t>
            </a:r>
          </a:p>
          <a:p>
            <a:r>
              <a:rPr lang="en-US" dirty="0" smtClean="0"/>
              <a:t>Presented by: </a:t>
            </a:r>
            <a:r>
              <a:rPr lang="en-US" dirty="0" err="1" smtClean="0"/>
              <a:t>Rogina</a:t>
            </a:r>
            <a:r>
              <a:rPr lang="en-US" dirty="0" smtClean="0"/>
              <a:t> </a:t>
            </a:r>
            <a:r>
              <a:rPr lang="en-US" dirty="0" err="1" smtClean="0"/>
              <a:t>Wagih</a:t>
            </a:r>
            <a:r>
              <a:rPr lang="en-US" dirty="0" smtClean="0"/>
              <a:t>, Ahmed Gaber, </a:t>
            </a:r>
            <a:r>
              <a:rPr lang="en-US" dirty="0" err="1" smtClean="0"/>
              <a:t>Makarios</a:t>
            </a:r>
            <a:r>
              <a:rPr lang="en-US" dirty="0" smtClean="0"/>
              <a:t> </a:t>
            </a:r>
            <a:r>
              <a:rPr lang="en-US" dirty="0" err="1" smtClean="0"/>
              <a:t>makin</a:t>
            </a:r>
            <a:r>
              <a:rPr lang="en-US" dirty="0" smtClean="0"/>
              <a:t>, Salma </a:t>
            </a:r>
            <a:r>
              <a:rPr lang="en-US" dirty="0" err="1" smtClean="0"/>
              <a:t>hassan</a:t>
            </a:r>
            <a:r>
              <a:rPr lang="en-US" dirty="0" smtClean="0"/>
              <a:t>, Ahmed </a:t>
            </a:r>
            <a:r>
              <a:rPr lang="en-US" dirty="0" err="1" smtClean="0"/>
              <a:t>Abdelhamid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11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Hemostasis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Hemostasis is the process of stopping bleeding.</a:t>
            </a:r>
          </a:p>
          <a:p>
            <a:r>
              <a:rPr lang="en-US" smtClean="0"/>
              <a:t>It involves a delicate balance between:</a:t>
            </a:r>
          </a:p>
          <a:p>
            <a:r>
              <a:rPr lang="en-US" smtClean="0"/>
              <a:t>• Pro-coagulants (Promote clotting)</a:t>
            </a:r>
          </a:p>
          <a:p>
            <a:r>
              <a:rPr lang="en-US" smtClean="0"/>
              <a:t>• Anti-coagulants (Prevent clotting)</a:t>
            </a:r>
          </a:p>
          <a:p>
            <a:r>
              <a:rPr lang="en-US" smtClean="0"/>
              <a:t>Anticlotting mechanisms ensure blood remains fluid within the vessels.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425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Core Anticlotting Mechanisms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Endothelial Factors (Smoothness and charge)</a:t>
            </a:r>
          </a:p>
          <a:p>
            <a:r>
              <a:rPr lang="en-US" smtClean="0"/>
              <a:t>2. Humoral Factors (Chemicals like Heparin and Antithrombin-III)</a:t>
            </a:r>
          </a:p>
          <a:p>
            <a:r>
              <a:rPr lang="en-US" smtClean="0"/>
              <a:t>3. Fibrinolytic System (Dissolving existing clots)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4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Role of Healthy Endothelium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Smooth Surface: Prevents platelet contact activation.</a:t>
            </a:r>
          </a:p>
          <a:p>
            <a:r>
              <a:rPr lang="en-US" smtClean="0"/>
              <a:t>• Negative Charge: Repels platelets and clotting proteins.</a:t>
            </a:r>
          </a:p>
          <a:p>
            <a:r>
              <a:rPr lang="en-US" smtClean="0"/>
              <a:t>• Blood Flow Rate: Continuous flow dilutes active clotting factors.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2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TXA2 vs. Prostacyclin Balance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Thromboxane A2 (TXA2): Promotes platelet aggregation and vasoconstriction.</a:t>
            </a:r>
          </a:p>
          <a:p>
            <a:r>
              <a:rPr lang="en-US" smtClean="0"/>
              <a:t>• Prostacyclin (PGI2): Inhibits aggregation and causes vasodilation.</a:t>
            </a:r>
          </a:p>
          <a:p>
            <a:r>
              <a:rPr lang="en-US" smtClean="0"/>
              <a:t>The balance keeps the vessel lumen free of clots.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64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Antithrombin-III and Heparin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Antithrombin-III: Inactivates factors IX, X, XI, and XII.</a:t>
            </a:r>
          </a:p>
          <a:p>
            <a:r>
              <a:rPr lang="en-US" smtClean="0"/>
              <a:t>• Heparin: Facilitates Antithrombin-III, increasing its speed 1000-fold.</a:t>
            </a:r>
          </a:p>
          <a:p>
            <a:r>
              <a:rPr lang="en-US" smtClean="0"/>
              <a:t>Together, they act as a powerful safety switch against thrombosis.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9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Fibrinolytic System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Plasminogen: Inactive form trapped in the clot.</a:t>
            </a:r>
          </a:p>
          <a:p>
            <a:r>
              <a:rPr lang="en-US" smtClean="0"/>
              <a:t>• Plasmin: Activated enzyme that lyses fibrin threads.</a:t>
            </a:r>
          </a:p>
          <a:p>
            <a:r>
              <a:rPr lang="en-US" smtClean="0"/>
              <a:t>• FDP (Fibrin Degradation Products): Inhibit thrombin, adding a second layer of protection.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9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Protein C &amp; Thrombomodulin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Thrombin + Thrombomodulin complex activates Protein C.</a:t>
            </a:r>
          </a:p>
          <a:p>
            <a:r>
              <a:rPr lang="en-US" smtClean="0"/>
              <a:t>• Activated Protein C (APC) inactivates Factors V and VIII.</a:t>
            </a:r>
          </a:p>
          <a:p>
            <a:r>
              <a:rPr lang="en-US" smtClean="0"/>
              <a:t>• This limits the clot only to the site of injury.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99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Liver: The Metabolic Filter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The liver inactivates activated clotting factors.</a:t>
            </a:r>
          </a:p>
          <a:p>
            <a:r>
              <a:rPr lang="en-US" smtClean="0"/>
              <a:t>• It synthesizes both clotting factors and anticoagulants.</a:t>
            </a:r>
          </a:p>
          <a:p>
            <a:r>
              <a:rPr lang="en-US" smtClean="0"/>
              <a:t>• Liver failure significantly increases bleeding risks.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6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Dental Procedure Implications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Dental extractions and surgeries disrupt vascular integrity.</a:t>
            </a:r>
          </a:p>
          <a:p>
            <a:r>
              <a:rPr lang="en-US" smtClean="0"/>
              <a:t>• Physiological anticlotting must be managed to prevent post-op hemorrhage.</a:t>
            </a:r>
          </a:p>
          <a:p>
            <a:r>
              <a:rPr lang="en-US" smtClean="0"/>
              <a:t>• Understanding the 'Dry Socket' risk (premature clot lysis).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INR and Surgical Safety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INR (International Normalized Ratio) is the standard for monitoring safety.</a:t>
            </a:r>
          </a:p>
          <a:p>
            <a:r>
              <a:rPr lang="en-US" smtClean="0"/>
              <a:t>• Normal = 1.0; Therapeutic = 2.0 - 3.5.</a:t>
            </a:r>
          </a:p>
          <a:p>
            <a:r>
              <a:rPr lang="en-US" smtClean="0"/>
              <a:t>• Minor dental surgery is usually safe if INR &lt; 3.5.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9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Pre-operative Management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Identify patients on anticoagulants (Aspirin, Warfarin, Heparin).</a:t>
            </a:r>
          </a:p>
          <a:p>
            <a:r>
              <a:rPr lang="en-US" smtClean="0"/>
              <a:t>• Consultation with the patient's physician is mandatory.</a:t>
            </a:r>
          </a:p>
          <a:p>
            <a:r>
              <a:rPr lang="en-US" smtClean="0"/>
              <a:t>• Plan surgery for the start of the week for follow-up.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14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Local Hemostatic Agents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Gelfoam Sponges: Provide a physical matrix for clotting.</a:t>
            </a:r>
          </a:p>
          <a:p>
            <a:r>
              <a:rPr lang="en-US" smtClean="0"/>
              <a:t>• Tranexamic Acid (TXA): Inhibits fibrinolysis (lysis) locally.</a:t>
            </a:r>
          </a:p>
          <a:p>
            <a:r>
              <a:rPr lang="en-US" smtClean="0"/>
              <a:t>• Direct Pressure: Primary mechanical aid.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38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 of Clinical Care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Maintaining the balance of hemostasis is vital for patient safety.</a:t>
            </a:r>
          </a:p>
          <a:p>
            <a:r>
              <a:rPr lang="en-US" smtClean="0"/>
              <a:t>• Anticlotting mechanisms protect the body from systemic thrombosis.</a:t>
            </a:r>
          </a:p>
          <a:p>
            <a:r>
              <a:rPr lang="en-US" smtClean="0"/>
              <a:t>• Local management allows these mechanisms to function while preventing bleeding.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2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Thank You!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Any 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719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8</TotalTime>
  <Words>508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Celestial</vt:lpstr>
      <vt:lpstr>Physiological Anticlotting Mechanisms</vt:lpstr>
      <vt:lpstr>Introduction to Hemostasis</vt:lpstr>
      <vt:lpstr>Core Anticlotting Mechanisms</vt:lpstr>
      <vt:lpstr>The Role of Healthy Endothelium</vt:lpstr>
      <vt:lpstr>TXA2 vs. Prostacyclin Balance</vt:lpstr>
      <vt:lpstr>Antithrombin-III and Heparin</vt:lpstr>
      <vt:lpstr>The Fibrinolytic System</vt:lpstr>
      <vt:lpstr>Protein C &amp; Thrombomodulin</vt:lpstr>
      <vt:lpstr>Liver: The Metabolic Filter</vt:lpstr>
      <vt:lpstr>Dental Procedure Implications</vt:lpstr>
      <vt:lpstr>INR and Surgical Safety</vt:lpstr>
      <vt:lpstr>Pre-operative Management</vt:lpstr>
      <vt:lpstr>Local Hemostatic Agents</vt:lpstr>
      <vt:lpstr>Summary of Clinical Care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Physiological Anticlotting Mechanisms</dc:title>
  <dc:creator>hp</dc:creator>
  <cp:lastModifiedBy>hp</cp:lastModifiedBy>
  <cp:revision>2</cp:revision>
  <dcterms:created xsi:type="dcterms:W3CDTF">2026-05-05T19:44:33Z</dcterms:created>
  <dcterms:modified xsi:type="dcterms:W3CDTF">2026-05-05T19:52:49Z</dcterms:modified>
</cp:coreProperties>
</file>